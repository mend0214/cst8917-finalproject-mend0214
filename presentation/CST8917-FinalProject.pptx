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7" r:id="rId1"/>
  </p:sldMasterIdLst>
  <p:sldIdLst>
    <p:sldId id="265" r:id="rId2"/>
    <p:sldId id="256" r:id="rId3"/>
    <p:sldId id="258" r:id="rId4"/>
    <p:sldId id="260" r:id="rId5"/>
    <p:sldId id="262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722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59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792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98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6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11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73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46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33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1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01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6CFA4-9B58-EEA1-5F8D-28E139BEA2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CST8917 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794390-2A8D-0E1C-390B-8D8EB4C8D4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Jediael Mendoza</a:t>
            </a:r>
          </a:p>
        </p:txBody>
      </p:sp>
    </p:spTree>
    <p:extLst>
      <p:ext uri="{BB962C8B-B14F-4D97-AF65-F5344CB8AC3E}">
        <p14:creationId xmlns:p14="http://schemas.microsoft.com/office/powerpoint/2010/main" val="2774781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A8FFEA1-1B69-4F42-B552-0CCF72596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3C9226-5EC8-460B-82D7-72AA994DF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A90A9D-33DF-408E-BF4C-F82588935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C6B623D-A3E9-460F-9A5B-2F0FE253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99" y="4550229"/>
            <a:ext cx="8181805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>
                <a:solidFill>
                  <a:schemeClr val="tx1">
                    <a:lumMod val="85000"/>
                    <a:lumOff val="15000"/>
                  </a:schemeClr>
                </a:solidFill>
              </a:rPr>
              <a:t>Workflow: Expense Approval Pipeline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55BF7B-E19B-478B-8187-8EF57F4F9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814" y="5618770"/>
            <a:ext cx="78867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EABC29F-F82F-4902-B701-8FEEE414F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5BDCBB-0B1A-4AA1-B47F-DBDB64246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1E91D1-EBEF-F4C2-233C-41B38719C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698259"/>
              </p:ext>
            </p:extLst>
          </p:nvPr>
        </p:nvGraphicFramePr>
        <p:xfrm>
          <a:off x="1285792" y="640080"/>
          <a:ext cx="6568948" cy="3602741"/>
        </p:xfrm>
        <a:graphic>
          <a:graphicData uri="http://schemas.openxmlformats.org/drawingml/2006/table">
            <a:tbl>
              <a:tblPr/>
              <a:tblGrid>
                <a:gridCol w="1759160">
                  <a:extLst>
                    <a:ext uri="{9D8B030D-6E8A-4147-A177-3AD203B41FA5}">
                      <a16:colId xmlns:a16="http://schemas.microsoft.com/office/drawing/2014/main" val="3155285457"/>
                    </a:ext>
                  </a:extLst>
                </a:gridCol>
                <a:gridCol w="4809788">
                  <a:extLst>
                    <a:ext uri="{9D8B030D-6E8A-4147-A177-3AD203B41FA5}">
                      <a16:colId xmlns:a16="http://schemas.microsoft.com/office/drawing/2014/main" val="1289592342"/>
                    </a:ext>
                  </a:extLst>
                </a:gridCol>
              </a:tblGrid>
              <a:tr h="305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Rule</a:t>
                      </a:r>
                    </a:p>
                  </a:txBody>
                  <a:tcPr marL="84288" marR="84288" marT="38902" marB="3890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Description</a:t>
                      </a:r>
                    </a:p>
                  </a:txBody>
                  <a:tcPr marL="84288" marR="84288" marT="38902" marB="3890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860893"/>
                  </a:ext>
                </a:extLst>
              </a:tr>
              <a:tr h="488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Input</a:t>
                      </a:r>
                      <a:endParaRPr lang="en-US" sz="1200">
                        <a:effectLst/>
                      </a:endParaRPr>
                    </a:p>
                  </a:txBody>
                  <a:tcPr marL="84288" marR="84288" marT="38902" marB="3890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An expense request with: employee name, employee email, amount, category, description, and manager email</a:t>
                      </a:r>
                    </a:p>
                  </a:txBody>
                  <a:tcPr marL="84288" marR="84288" marT="38902" marB="3890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509159"/>
                  </a:ext>
                </a:extLst>
              </a:tr>
              <a:tr h="855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Validation</a:t>
                      </a:r>
                      <a:endParaRPr lang="en-US" sz="1200">
                        <a:effectLst/>
                      </a:endParaRPr>
                    </a:p>
                  </a:txBody>
                  <a:tcPr marL="84288" marR="84288" marT="38902" marB="3890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Reject requests missing any required field or using an invalid category. 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Valid categories: </a:t>
                      </a:r>
                      <a:r>
                        <a:rPr lang="en-US" sz="1200" dirty="0">
                          <a:effectLst/>
                          <a:latin typeface="Monaspace Neon"/>
                        </a:rPr>
                        <a:t>travel</a:t>
                      </a:r>
                      <a:r>
                        <a:rPr lang="en-US" sz="1200" dirty="0">
                          <a:effectLst/>
                        </a:rPr>
                        <a:t>, </a:t>
                      </a:r>
                      <a:r>
                        <a:rPr lang="en-US" sz="1200" dirty="0">
                          <a:effectLst/>
                          <a:latin typeface="Monaspace Neon"/>
                        </a:rPr>
                        <a:t>meals</a:t>
                      </a:r>
                      <a:r>
                        <a:rPr lang="en-US" sz="1200" dirty="0">
                          <a:effectLst/>
                        </a:rPr>
                        <a:t>, </a:t>
                      </a:r>
                      <a:r>
                        <a:rPr lang="en-US" sz="1200" dirty="0">
                          <a:effectLst/>
                          <a:latin typeface="Monaspace Neon"/>
                        </a:rPr>
                        <a:t>supplies</a:t>
                      </a:r>
                      <a:r>
                        <a:rPr lang="en-US" sz="1200" dirty="0">
                          <a:effectLst/>
                        </a:rPr>
                        <a:t>, </a:t>
                      </a:r>
                      <a:r>
                        <a:rPr lang="en-US" sz="1200" dirty="0">
                          <a:effectLst/>
                          <a:latin typeface="Monaspace Neon"/>
                        </a:rPr>
                        <a:t>equipment</a:t>
                      </a:r>
                      <a:r>
                        <a:rPr lang="en-US" sz="1200" dirty="0">
                          <a:effectLst/>
                        </a:rPr>
                        <a:t>, </a:t>
                      </a:r>
                      <a:r>
                        <a:rPr lang="en-US" sz="1200" dirty="0">
                          <a:effectLst/>
                          <a:latin typeface="Monaspace Neon"/>
                        </a:rPr>
                        <a:t>software</a:t>
                      </a:r>
                      <a:r>
                        <a:rPr lang="en-US" sz="1200" dirty="0">
                          <a:effectLst/>
                        </a:rPr>
                        <a:t>, </a:t>
                      </a:r>
                      <a:r>
                        <a:rPr lang="en-US" sz="1200" dirty="0">
                          <a:effectLst/>
                          <a:latin typeface="Monaspace Neon"/>
                        </a:rPr>
                        <a:t>other</a:t>
                      </a:r>
                      <a:r>
                        <a:rPr lang="en-US" sz="1200" dirty="0">
                          <a:effectLst/>
                        </a:rPr>
                        <a:t>.</a:t>
                      </a:r>
                    </a:p>
                  </a:txBody>
                  <a:tcPr marL="84288" marR="84288" marT="38902" marB="3890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264642"/>
                  </a:ext>
                </a:extLst>
              </a:tr>
              <a:tr h="488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Auto-Approve</a:t>
                      </a:r>
                      <a:endParaRPr lang="en-US" sz="1200">
                        <a:effectLst/>
                      </a:endParaRPr>
                    </a:p>
                  </a:txBody>
                  <a:tcPr marL="84288" marR="84288" marT="38902" marB="3890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Expenses under $100 are automatically approved — no manager needed.</a:t>
                      </a:r>
                    </a:p>
                  </a:txBody>
                  <a:tcPr marL="84288" marR="84288" marT="38902" marB="3890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785378"/>
                  </a:ext>
                </a:extLst>
              </a:tr>
              <a:tr h="488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Manager Approval</a:t>
                      </a:r>
                      <a:endParaRPr lang="en-US" sz="1200">
                        <a:effectLst/>
                      </a:endParaRPr>
                    </a:p>
                  </a:txBody>
                  <a:tcPr marL="84288" marR="84288" marT="38902" marB="3890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Expenses of $100 or more require manager approval. The system waits for a manager decision.</a:t>
                      </a:r>
                    </a:p>
                  </a:txBody>
                  <a:tcPr marL="84288" marR="84288" marT="38902" marB="3890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78748"/>
                  </a:ext>
                </a:extLst>
              </a:tr>
              <a:tr h="488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Timeout</a:t>
                      </a:r>
                      <a:endParaRPr lang="en-US" sz="1200">
                        <a:effectLst/>
                      </a:endParaRPr>
                    </a:p>
                  </a:txBody>
                  <a:tcPr marL="84288" marR="84288" marT="38902" marB="3890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If no manager decision arrives within the timeout period, the expense is auto-approved and flagged as "escalated".</a:t>
                      </a:r>
                    </a:p>
                  </a:txBody>
                  <a:tcPr marL="84288" marR="84288" marT="38902" marB="3890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709314"/>
                  </a:ext>
                </a:extLst>
              </a:tr>
              <a:tr h="488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Notification</a:t>
                      </a:r>
                      <a:endParaRPr lang="en-US" sz="1200">
                        <a:effectLst/>
                      </a:endParaRPr>
                    </a:p>
                  </a:txBody>
                  <a:tcPr marL="84288" marR="84288" marT="38902" marB="3890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The employee receives an email with the final outcome (approved, rejected, or escalated).</a:t>
                      </a:r>
                    </a:p>
                  </a:txBody>
                  <a:tcPr marL="84288" marR="84288" marT="38902" marB="38902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5015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8FFEA1-1B69-4F42-B552-0CCF72596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3C9226-5EC8-460B-82D7-72AA994DF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A90A9D-33DF-408E-BF4C-F82588935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C6B623D-A3E9-460F-9A5B-2F0FE253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99" y="4550229"/>
            <a:ext cx="8181805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b="1">
                <a:solidFill>
                  <a:schemeClr val="tx1">
                    <a:lumMod val="85000"/>
                    <a:lumOff val="15000"/>
                  </a:schemeClr>
                </a:solidFill>
              </a:rPr>
              <a:t>Version A — Durable Functions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355BF7B-E19B-478B-8187-8EF57F4F9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814" y="5618770"/>
            <a:ext cx="78867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EABC29F-F82F-4902-B701-8FEEE414F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5BDCBB-0B1A-4AA1-B47F-DBDB64246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9B2C3F-3B49-1038-62B5-FB437C24B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39" y="772217"/>
            <a:ext cx="7205101" cy="3778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8FFEA1-1B69-4F42-B552-0CCF72596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3C9226-5EC8-460B-82D7-72AA994DF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A90A9D-33DF-408E-BF4C-F82588935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C6B623D-A3E9-460F-9A5B-2F0FE253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99" y="4550229"/>
            <a:ext cx="8181805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>
                <a:solidFill>
                  <a:schemeClr val="tx1">
                    <a:lumMod val="85000"/>
                    <a:lumOff val="15000"/>
                  </a:schemeClr>
                </a:solidFill>
              </a:rPr>
              <a:t>Version B — Logic Apps + Service Bus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3A7BA6-8ECB-FD49-3CBA-8AFC156B7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592" y="1827548"/>
            <a:ext cx="8187348" cy="241526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55BF7B-E19B-478B-8187-8EF57F4F9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814" y="5618770"/>
            <a:ext cx="78867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EABC29F-F82F-4902-B701-8FEEE414F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5BDCBB-0B1A-4AA1-B47F-DBDB64246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4A8FFEA1-1B69-4F42-B552-0CCF72596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A3C9226-5EC8-460B-82D7-72AA994DF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2A90A9D-33DF-408E-BF4C-F82588935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3C6B623D-A3E9-460F-9A5B-2F0FE253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99" y="4550229"/>
            <a:ext cx="8181805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b="1">
                <a:solidFill>
                  <a:schemeClr val="tx1">
                    <a:lumMod val="85000"/>
                    <a:lumOff val="15000"/>
                  </a:schemeClr>
                </a:solidFill>
              </a:rPr>
              <a:t>Comparison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355BF7B-E19B-478B-8187-8EF57F4F9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814" y="5618770"/>
            <a:ext cx="78867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AEABC29F-F82F-4902-B701-8FEEE414F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75BDCBB-0B1A-4AA1-B47F-DBDB64246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2D8674-E4FD-49F2-A37A-E92F1A3EE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523972"/>
              </p:ext>
            </p:extLst>
          </p:nvPr>
        </p:nvGraphicFramePr>
        <p:xfrm>
          <a:off x="476592" y="715591"/>
          <a:ext cx="8187349" cy="3451716"/>
        </p:xfrm>
        <a:graphic>
          <a:graphicData uri="http://schemas.openxmlformats.org/drawingml/2006/table">
            <a:tbl>
              <a:tblPr/>
              <a:tblGrid>
                <a:gridCol w="2356217">
                  <a:extLst>
                    <a:ext uri="{9D8B030D-6E8A-4147-A177-3AD203B41FA5}">
                      <a16:colId xmlns:a16="http://schemas.microsoft.com/office/drawing/2014/main" val="659198599"/>
                    </a:ext>
                  </a:extLst>
                </a:gridCol>
                <a:gridCol w="3246370">
                  <a:extLst>
                    <a:ext uri="{9D8B030D-6E8A-4147-A177-3AD203B41FA5}">
                      <a16:colId xmlns:a16="http://schemas.microsoft.com/office/drawing/2014/main" val="946196317"/>
                    </a:ext>
                  </a:extLst>
                </a:gridCol>
                <a:gridCol w="2584762">
                  <a:extLst>
                    <a:ext uri="{9D8B030D-6E8A-4147-A177-3AD203B41FA5}">
                      <a16:colId xmlns:a16="http://schemas.microsoft.com/office/drawing/2014/main" val="787648516"/>
                    </a:ext>
                  </a:extLst>
                </a:gridCol>
              </a:tblGrid>
              <a:tr h="256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Dimension</a:t>
                      </a:r>
                      <a:endParaRPr lang="en-US" sz="1100"/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Durable Functions (Version A)</a:t>
                      </a:r>
                      <a:endParaRPr lang="en-US" sz="1100"/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Logic Apps + Service Bus (Version B)</a:t>
                      </a:r>
                      <a:endParaRPr lang="en-US" sz="1100"/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057297"/>
                  </a:ext>
                </a:extLst>
              </a:tr>
              <a:tr h="58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Development Experience</a:t>
                      </a:r>
                      <a:endParaRPr lang="en-US" sz="1100"/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Faster to build; single service; strong control using code; easier debugging in VS Code</a:t>
                      </a:r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Slower setup; multiple services; harder to learn initially; visual designer helps after setup</a:t>
                      </a:r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545152"/>
                  </a:ext>
                </a:extLst>
              </a:tr>
              <a:tr h="58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Testability</a:t>
                      </a:r>
                      <a:endParaRPr lang="en-US" sz="1100"/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Easy to test locally with </a:t>
                      </a:r>
                      <a:r>
                        <a:rPr lang="en-US" sz="1100">
                          <a:latin typeface="Courier New" panose="02070309020205020404" pitchFamily="49" charset="0"/>
                        </a:rPr>
                        <a:t>.http</a:t>
                      </a:r>
                      <a:r>
                        <a:rPr lang="en-US" sz="1100"/>
                        <a:t> and runtime; supports automated testing</a:t>
                      </a:r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Harder to test locally; requires Azure resources; slower testing due to execution delays</a:t>
                      </a:r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553570"/>
                  </a:ext>
                </a:extLst>
              </a:tr>
              <a:tr h="58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Error Handling</a:t>
                      </a:r>
                      <a:endParaRPr lang="en-US" sz="1100"/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More flexible; try/catch and custom retry logic; better control over recovery</a:t>
                      </a:r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Built-in retry policies; easy to configure but less control; complex for large workflows</a:t>
                      </a:r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955601"/>
                  </a:ext>
                </a:extLst>
              </a:tr>
              <a:tr h="58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Human Interaction</a:t>
                      </a:r>
                      <a:endParaRPr lang="en-US" sz="1100"/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Natural support using </a:t>
                      </a:r>
                      <a:r>
                        <a:rPr lang="en-US" sz="1100">
                          <a:latin typeface="Courier New" panose="02070309020205020404" pitchFamily="49" charset="0"/>
                        </a:rPr>
                        <a:t>wait_for_external_event</a:t>
                      </a:r>
                      <a:r>
                        <a:rPr lang="en-US" sz="1100"/>
                        <a:t> and timers</a:t>
                      </a:r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Simulated using Table Storage, second Logic App, and polling loop; more complex</a:t>
                      </a:r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725663"/>
                  </a:ext>
                </a:extLst>
              </a:tr>
              <a:tr h="421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Observability</a:t>
                      </a:r>
                      <a:endParaRPr lang="en-US" sz="1100"/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Logs and instance tracking; less visual</a:t>
                      </a:r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Strong visual monitoring in portal; easier to debug step-by-step</a:t>
                      </a:r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382448"/>
                  </a:ext>
                </a:extLst>
              </a:tr>
              <a:tr h="421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Cost</a:t>
                      </a:r>
                      <a:endParaRPr lang="en-US" sz="1100"/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Very low cost; ~$0 (low usage), ~$1.10 at scale</a:t>
                      </a:r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Higher cost; ~$0 (low usage), ~$7.40 at scale due to per-action pricing</a:t>
                      </a:r>
                    </a:p>
                  </a:txBody>
                  <a:tcPr marL="53870" marR="53870" marT="26934" marB="269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1439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19D089-5FFA-05E7-82AC-79CF126E10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56512" y="605896"/>
            <a:ext cx="4810247" cy="56462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Durable Functions is the recommended solution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Better for complex workflows and human interaction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Provides more control, cleaner logic, and easier maintenance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More cost-efficient at scale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Logic Apps is useful for simple integrations and visual workflows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224</TotalTime>
  <Words>377</Words>
  <Application>Microsoft Office PowerPoint</Application>
  <PresentationFormat>On-screen Show (4:3)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Monaspace Neon</vt:lpstr>
      <vt:lpstr>Retrospect</vt:lpstr>
      <vt:lpstr>CST8917 Final Project</vt:lpstr>
      <vt:lpstr>Workflow: Expense Approval Pipeline</vt:lpstr>
      <vt:lpstr>Version A — Durable Functions</vt:lpstr>
      <vt:lpstr>Version B — Logic Apps + Service Bus</vt:lpstr>
      <vt:lpstr>Comparison</vt:lpstr>
      <vt:lpstr>Recommendation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Jediael Mendoza</cp:lastModifiedBy>
  <cp:revision>3</cp:revision>
  <dcterms:created xsi:type="dcterms:W3CDTF">2013-01-27T09:14:16Z</dcterms:created>
  <dcterms:modified xsi:type="dcterms:W3CDTF">2026-04-15T00:31:04Z</dcterms:modified>
  <cp:category/>
</cp:coreProperties>
</file>